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5486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D6E4F0"/>
                </a:solidFill>
              </a:defRPr>
            </a:pPr>
            <a:r>
              <a:t>M.Tech. (Online) — Artificial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Detecting AI-Generated and Cloned Speech</a:t>
            </a:r>
          </a:p>
          <a:p>
            <a:pPr>
              <a:defRPr sz="2400">
                <a:solidFill>
                  <a:srgbClr val="D6E4F0"/>
                </a:solidFill>
              </a:defRPr>
            </a:pPr>
            <a:r>
              <a:t>to Strengthen Voice-Based Authentication in Banking Environments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t>Midterm Evaluation &amp; Demo — Phase 1 + Phase 2 Progress</a:t>
            </a:r>
          </a:p>
          <a:p>
            <a:pPr>
              <a:spcAft>
                <a:spcPts val="600"/>
              </a:spcAft>
              <a:defRPr sz="1500" b="0">
                <a:solidFill>
                  <a:srgbClr val="D6E4F0"/>
                </a:solidFill>
              </a:defRPr>
            </a:pPr>
            <a:r>
              <a:t>Rajib Roy  |  Student No. 24459  |  IISc M.Tech (AI)</a:t>
            </a:r>
          </a:p>
          <a:p>
            <a:pPr>
              <a:spcAft>
                <a:spcPts val="600"/>
              </a:spcAft>
              <a:defRPr sz="1300" b="0">
                <a:solidFill>
                  <a:srgbClr val="D6E4F0"/>
                </a:solidFill>
              </a:defRPr>
            </a:pPr>
            <a:r>
              <a:t>Internal Guide: Dr. Anil Rahate, Wipro Ltd   |   IISc Mentor: Prof. C. S. Seelamantula</a:t>
            </a:r>
          </a:p>
          <a:p>
            <a:pPr>
              <a:spcAft>
                <a:spcPts val="600"/>
              </a:spcAft>
              <a:defRPr sz="1300" b="0">
                <a:solidFill>
                  <a:srgbClr val="D6E4F0"/>
                </a:solidFill>
              </a:defRPr>
            </a:pPr>
            <a:r>
              <a:t>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6E4F0"/>
                </a:solidFill>
              </a:defRPr>
            </a:pPr>
            <a:r>
              <a:t>OVERVIEW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▸ Problem &amp; motivation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▸ Research questions and novelty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▸ Project timeline: Phase 1 → Phase 2 → Phase 3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▸ Phase 1 recap: dataset &amp; feature pipeline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▸ Phase 2: classical ML baselines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▸ Phase 2: feature importance analysis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▸ Phase 2: deep learning models (CNN, CNN-LSTM)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▸ Phase 2: robustness &amp; cross-system generalisation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▸ Consolidated results &amp; key insights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▸ Phase 3 plan &amp; Q&amp;A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Midterm Evaluation — Phase 1 + Phase 2</a:t>
            </a:r>
          </a:p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6E4F0"/>
                </a:solidFill>
              </a:defRPr>
            </a:pPr>
            <a:r>
              <a:t>MOTIVATION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▸ Voice authentication is routine in banking IVR / call-centre workflows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▸ Neural TTS &amp; voice cloning can now replicate a voice from a few seconds of audio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▸ Existing voice biometrics were designed against replay attacks — not modern neural TTS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▸ A successful spoof enables fraudulent transfers, identity fraud, social engineering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463040"/>
            <a:ext cx="4937760" cy="4206240"/>
          </a:xfrm>
          <a:prstGeom prst="roundRect">
            <a:avLst/>
          </a:prstGeom>
          <a:solidFill>
            <a:srgbClr val="D6E4F0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b="1" sz="2000">
                <a:solidFill>
                  <a:srgbClr val="1F4E79"/>
                </a:solidFill>
              </a:defRPr>
            </a:pPr>
            <a:r>
              <a:t>Goal</a:t>
            </a:r>
          </a:p>
          <a:p>
            <a:pPr>
              <a:spcBef>
                <a:spcPts val="1000"/>
              </a:spcBef>
              <a:defRPr sz="1600">
                <a:solidFill>
                  <a:srgbClr val="333333"/>
                </a:solidFill>
              </a:defRPr>
            </a:pPr>
            <a:r>
              <a:t>Build and validate an automated pipeline that distinguishes genuine human speech from AI-generated / cloned speech, specifically under banking telephony conditions: short utterances, codec compression, background noise.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Midterm Evaluation — Phase 1 + Phase 2</a:t>
            </a:r>
          </a:p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6E4F0"/>
                </a:solidFill>
              </a:defRPr>
            </a:pPr>
            <a:r>
              <a:t>SCOPE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Research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698480" cy="1051560"/>
          </a:xfrm>
          <a:prstGeom prst="roundRect">
            <a:avLst/>
          </a:prstGeom>
          <a:solidFill>
            <a:srgbClr val="EBF3FB"/>
          </a:solidFill>
          <a:ln w="9525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1600200"/>
            <a:ext cx="685800" cy="68580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527048"/>
            <a:ext cx="9418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Can supervised ML reliably distinguish real vs. AI-synthesised speech, on unseen speakers and unseen TTS systems?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24328"/>
            <a:ext cx="10698480" cy="1051560"/>
          </a:xfrm>
          <a:prstGeom prst="roundRect">
            <a:avLst/>
          </a:prstGeom>
          <a:solidFill>
            <a:srgbClr val="EBF3FB"/>
          </a:solidFill>
          <a:ln w="9525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2807208"/>
            <a:ext cx="685800" cy="68580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734056"/>
            <a:ext cx="9418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Which acoustic/signal-level properties (spectral shape, phase coherence, prosody) most reliably betray synthetic speech?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31336"/>
            <a:ext cx="10698480" cy="1051560"/>
          </a:xfrm>
          <a:prstGeom prst="roundRect">
            <a:avLst/>
          </a:prstGeom>
          <a:solidFill>
            <a:srgbClr val="EBF3FB"/>
          </a:solidFill>
          <a:ln w="9525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4014216"/>
            <a:ext cx="685800" cy="68580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41064"/>
            <a:ext cx="9418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How do detection models hold up under banking telephony conditions — short utterances, G.711 codec, ambient noise?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038344"/>
            <a:ext cx="10698480" cy="1051560"/>
          </a:xfrm>
          <a:prstGeom prst="roundRect">
            <a:avLst/>
          </a:prstGeom>
          <a:solidFill>
            <a:srgbClr val="EBF3FB"/>
          </a:solidFill>
          <a:ln w="9525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5221224"/>
            <a:ext cx="685800" cy="68580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RQ4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148072"/>
            <a:ext cx="9418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Do deep learning architectures offer a meaningful advantage over classical ML under identical data conditions?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Midterm Evaluation — Phase 1 + Phase 2</a:t>
            </a:r>
          </a:p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6E4F0"/>
                </a:solidFill>
              </a:defRPr>
            </a:pPr>
            <a:r>
              <a:t>WORK PLAN (APPROVED PROPOSAL)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Project 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520440" cy="4114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228600" rIns="182880"/>
          <a:lstStyle/>
          <a:p>
            <a:pPr algn="ctr">
              <a:defRPr sz="2400" b="1">
                <a:solidFill>
                  <a:srgbClr val="1F4E79"/>
                </a:solidFill>
              </a:defRPr>
            </a:pPr>
            <a:r>
              <a:t>Phase 1</a:t>
            </a:r>
          </a:p>
          <a:p>
            <a:pPr>
              <a:spcAft>
                <a:spcPts val="1400"/>
              </a:spcAft>
              <a:defRPr sz="1400">
                <a:solidFill>
                  <a:srgbClr val="2E74B5"/>
                </a:solidFill>
              </a:defRPr>
            </a:pPr>
            <a:r>
              <a:t>Jan – Apr 2026</a:t>
            </a:r>
          </a:p>
          <a:p>
            <a:pPr>
              <a:lnSpc>
                <a:spcPct val="125000"/>
              </a:lnSpc>
              <a:defRPr sz="1400">
                <a:solidFill>
                  <a:srgbClr val="333333"/>
                </a:solidFill>
              </a:defRPr>
            </a:pPr>
            <a:r>
              <a:t>Literature review · Dataset (17,947 utterances) · Feature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5257800"/>
            <a:ext cx="1554480" cy="36576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COMPLETE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737360"/>
            <a:ext cx="3520440" cy="4114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228600" rIns="182880"/>
          <a:lstStyle/>
          <a:p>
            <a:pPr algn="ctr">
              <a:defRPr sz="2400" b="1">
                <a:solidFill>
                  <a:srgbClr val="1F4E79"/>
                </a:solidFill>
              </a:defRPr>
            </a:pPr>
            <a:r>
              <a:t>Phase 2</a:t>
            </a:r>
          </a:p>
          <a:p>
            <a:pPr>
              <a:spcAft>
                <a:spcPts val="1400"/>
              </a:spcAft>
              <a:defRPr sz="1400">
                <a:solidFill>
                  <a:srgbClr val="2E74B5"/>
                </a:solidFill>
              </a:defRPr>
            </a:pPr>
            <a:r>
              <a:t>May – Jul 2026</a:t>
            </a:r>
          </a:p>
          <a:p>
            <a:pPr>
              <a:lnSpc>
                <a:spcPct val="125000"/>
              </a:lnSpc>
              <a:defRPr sz="1400">
                <a:solidFill>
                  <a:srgbClr val="333333"/>
                </a:solidFill>
              </a:defRPr>
            </a:pPr>
            <a:r>
              <a:t>ML baselines · Feature importance · CNN / CNN-LSTM · Robustness experiments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5257800"/>
            <a:ext cx="1554480" cy="36576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COMPLETE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737360"/>
            <a:ext cx="3520440" cy="4114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228600" rIns="182880"/>
          <a:lstStyle/>
          <a:p>
            <a:pPr algn="ctr">
              <a:defRPr sz="2400" b="1">
                <a:solidFill>
                  <a:srgbClr val="1F4E79"/>
                </a:solidFill>
              </a:defRPr>
            </a:pPr>
            <a:r>
              <a:t>Phase 3</a:t>
            </a:r>
          </a:p>
          <a:p>
            <a:pPr>
              <a:spcAft>
                <a:spcPts val="1400"/>
              </a:spcAft>
              <a:defRPr sz="1400">
                <a:solidFill>
                  <a:srgbClr val="2E74B5"/>
                </a:solidFill>
              </a:defRPr>
            </a:pPr>
            <a:r>
              <a:t>Aug – Nov 2026</a:t>
            </a:r>
          </a:p>
          <a:p>
            <a:pPr>
              <a:lnSpc>
                <a:spcPct val="125000"/>
              </a:lnSpc>
              <a:defRPr sz="1400">
                <a:solidFill>
                  <a:srgbClr val="333333"/>
                </a:solidFill>
              </a:defRPr>
            </a:pPr>
            <a:r>
              <a:t>SHAP + saliency interpretability · Final evaluation &amp; stats · Thesis writing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5257800"/>
            <a:ext cx="1554480" cy="365760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UPCOMING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We are here: end of Phase 2, entering Phase 3</a:t>
            </a:r>
          </a:p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6E4F0"/>
                </a:solidFill>
              </a:defRPr>
            </a:pPr>
            <a:r>
              <a:t>FOUNDATION FOR PHASE 2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Phase 1 Recap: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▸ 17,947 utterances from 10 sources</a:t>
            </a:r>
          </a:p>
          <a:p>
            <a:pPr lvl="1">
              <a:lnSpc>
                <a:spcPct val="115000"/>
              </a:lnSpc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–  Genuine: LibriSpeech test-clean, 2,229 clips, 40 speakers</a:t>
            </a:r>
          </a:p>
          <a:p>
            <a:pPr lvl="1">
              <a:lnSpc>
                <a:spcPct val="115000"/>
              </a:lnSpc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–  Synthetic: ASVspoof 2019 LA (6 TTS/VC systems), VITS, Tacotron2, Edge-TTS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▸ 8 kHz + G.711 codec simulation (banking telephony)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▸ 3–8 second utterances (transaction-confirmation length)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▸ Strict speaker- and system-independent splits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▸ Microsoft Edge-TTS held out entirely — unseen-system generalisation test</a:t>
            </a:r>
          </a:p>
        </p:txBody>
      </p:sp>
      <p:pic>
        <p:nvPicPr>
          <p:cNvPr id="7" name="Picture 6" descr="Fig2_Dataset_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554480"/>
            <a:ext cx="4937760" cy="1826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Midterm Evaluation — Phase 1 + Phase 2</a:t>
            </a:r>
          </a:p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6E4F0"/>
                </a:solidFill>
              </a:defRPr>
            </a:pPr>
            <a:r>
              <a:t>FOUNDATION FOR PHASE 2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Phase 1 Recap: Feature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▸ 257-dim handcrafted feature vector (Librosa, 25 ms window / 10 ms hop)</a:t>
            </a:r>
          </a:p>
          <a:p>
            <a:pPr lvl="1">
              <a:lnSpc>
                <a:spcPct val="115000"/>
              </a:lnSpc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–  MFCC (40 coeff. × static/Δ/ΔΔ) = 120 dims</a:t>
            </a:r>
          </a:p>
          <a:p>
            <a:pPr lvl="1">
              <a:lnSpc>
                <a:spcPct val="115000"/>
              </a:lnSpc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–  Spectral centroid, bandwidth, rolloff, ZCR, HNR, pitch, phase difference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▸ 128-bin log-Mel spectrograms for deep learning models (128×128)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▸ All hyperparameters centralised in config.yaml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▸ diagnose.py validates class balance, NaNs, inter-class separation</a:t>
            </a:r>
          </a:p>
        </p:txBody>
      </p:sp>
      <p:pic>
        <p:nvPicPr>
          <p:cNvPr id="7" name="Picture 6" descr="Fig3_Feature_V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554480"/>
            <a:ext cx="4937760" cy="26449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Midterm Evaluation — Phase 1 + Phase 2</a:t>
            </a:r>
          </a:p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6E4F0"/>
                </a:solidFill>
              </a:defRPr>
            </a:pPr>
            <a:r>
              <a:t>SVM · RANDOM FOREST · GRADIENT BOOSTING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Phase 2: Classical ML Baselines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104241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828800"/>
                <a:gridCol w="1554480"/>
                <a:gridCol w="1554480"/>
                <a:gridCol w="155448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Eval. Set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EER ↓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F1 ↑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AUC ↑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Acc. ↑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SVM (RBF)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Test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0.0083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0.9943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0.9992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0.9912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SVM (RBF)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Gen. test†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0.0067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0.9987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0.9953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Random Forest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Test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0.0305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0.9834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0.9956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0.9744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Random Forest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Gen. test†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0.0293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0.9854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0.9964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0.9781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Gradient Boosting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Test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0.0346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0.9820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0.9949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0.9722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Gradient Boosting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Gen. test†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0.0311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0.9868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0.9956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0.9801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7548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333333"/>
                </a:solidFill>
              </a:defRPr>
            </a:pPr>
            <a:r>
              <a:t>SVM (RBF kernel, C=10) is the strongest classical baseline. All three models trained with SMOTE + class-weighting inside 5-fold CV. † Gen. test = held-out Edge-TTS, unseen in training.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Midterm Evaluation — Phase 1 + Phase 2</a:t>
            </a:r>
          </a:p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6E4F0"/>
                </a:solidFill>
              </a:defRPr>
            </a:pPr>
            <a:r>
              <a:t>INTERPRETABILITY (RANDOM FOREST)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Phase 2: Feature Importance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▸ Random Forest importance ranking over the 257-dim feature vector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▸ Delta-MFCC coefficients dominate (delta_mfcc_6_mean, delta_mfcc_5_mean)</a:t>
            </a:r>
          </a:p>
          <a:p>
            <a:pPr lvl="1">
              <a:lnSpc>
                <a:spcPct val="115000"/>
              </a:lnSpc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–  → TTS vocoders impose smoother, more regular spectral dynamics than natural articulation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▸ phase_diff_mean ranks 16th — validates inclusion of phase-based features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▸ Spectral centroid &amp; rolloff appear as secondary discriminators</a:t>
            </a:r>
          </a:p>
        </p:txBody>
      </p:sp>
      <p:pic>
        <p:nvPicPr>
          <p:cNvPr id="7" name="Picture 6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17320"/>
            <a:ext cx="5486400" cy="37968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Midterm Evaluation — Phase 1 + Phase 2</a:t>
            </a:r>
          </a:p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6E4F0"/>
                </a:solidFill>
              </a:defRPr>
            </a:pPr>
            <a:r>
              <a:t>CNN &amp; CNN-LSTM ON LOG-MEL SPECTROGRAMS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Phase 2: Deep Learning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4480560"/>
          </a:xfrm>
          <a:prstGeom prst="roundRect">
            <a:avLst/>
          </a:prstGeom>
          <a:solidFill>
            <a:srgbClr val="EBF3FB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28600"/>
          <a:lstStyle/>
          <a:p>
            <a:pPr algn="ctr">
              <a:defRPr sz="2000" b="1">
                <a:solidFill>
                  <a:srgbClr val="1F4E79"/>
                </a:solidFill>
              </a:defRPr>
            </a:pPr>
            <a:r>
              <a:t>CNN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450">
                <a:solidFill>
                  <a:srgbClr val="333333"/>
                </a:solidFill>
              </a:defRPr>
            </a:pPr>
            <a:r>
              <a:t>▸ 4 conv blocks: 32→64→128→256 channels, 3×3 kernel, BatchNorm, ReLU, max-pool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450">
                <a:solidFill>
                  <a:srgbClr val="333333"/>
                </a:solidFill>
              </a:defRPr>
            </a:pPr>
            <a:r>
              <a:t>▸ Global average pooling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450">
                <a:solidFill>
                  <a:srgbClr val="333333"/>
                </a:solidFill>
              </a:defRPr>
            </a:pPr>
            <a:r>
              <a:t>▸ Classifier: 256→128→2, dropout p=0.5</a:t>
            </a:r>
          </a:p>
          <a:p>
            <a:pPr>
              <a:spcBef>
                <a:spcPts val="1000"/>
              </a:spcBef>
              <a:defRPr sz="1500" b="1">
                <a:solidFill>
                  <a:srgbClr val="2E74B5"/>
                </a:solidFill>
              </a:defRPr>
            </a:pPr>
            <a:r>
              <a:t>421,954 parameters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212080" cy="4480560"/>
          </a:xfrm>
          <a:prstGeom prst="roundRect">
            <a:avLst/>
          </a:prstGeom>
          <a:solidFill>
            <a:srgbClr val="EBF3FB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28600"/>
          <a:lstStyle/>
          <a:p>
            <a:pPr algn="ctr">
              <a:defRPr sz="2000" b="1">
                <a:solidFill>
                  <a:srgbClr val="1F4E79"/>
                </a:solidFill>
              </a:defRPr>
            </a:pPr>
            <a:r>
              <a:t>CNN-LSTM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450">
                <a:solidFill>
                  <a:srgbClr val="333333"/>
                </a:solidFill>
              </a:defRPr>
            </a:pPr>
            <a:r>
              <a:t>▸ Same conv front-end, frequency-only pooling (preserves time axis)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450">
                <a:solidFill>
                  <a:srgbClr val="333333"/>
                </a:solidFill>
              </a:defRPr>
            </a:pPr>
            <a:r>
              <a:t>▸ 2-layer bidirectional LSTM, hidden size 128/direction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450">
                <a:solidFill>
                  <a:srgbClr val="333333"/>
                </a:solidFill>
              </a:defRPr>
            </a:pPr>
            <a:r>
              <a:t>▸ Same classifier head — explicitly models temporal prosodic dynamics</a:t>
            </a:r>
          </a:p>
          <a:p>
            <a:pPr>
              <a:spcBef>
                <a:spcPts val="1000"/>
              </a:spcBef>
              <a:defRPr sz="1500" b="1">
                <a:solidFill>
                  <a:srgbClr val="2E74B5"/>
                </a:solidFill>
              </a:defRPr>
            </a:pPr>
            <a:r>
              <a:t>1,834,498 parameters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333333"/>
                </a:solidFill>
              </a:defRPr>
            </a:pPr>
            <a:r>
              <a:t>Training: Adam (lr=1e-3), cosine annealing, 50 epochs, weighted cross-entropy, WeightedRandomSampler, mixed precision on RTX 3060 (6.4 GB), early stopping (patience 10)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6E4F0"/>
                </a:solidFill>
              </a:defRPr>
            </a:pPr>
            <a:r>
              <a:t>CNN VS. CNN-LSTM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Phase 2: Deep Learning — Convergence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106984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103120"/>
                <a:gridCol w="2103120"/>
                <a:gridCol w="210312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Params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Best Epoch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Val EER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Training Time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CNN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421,954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0.0154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~55 min (RTX 3060)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CNN-LSTM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1,834,498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0.0092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~60 min (RTX 3060)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9260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333333"/>
                </a:solidFill>
              </a:defRPr>
            </a:pPr>
            <a:r>
              <a:t>CNN-LSTM converges faster to a lower validation EER — explicit temporal modelling via the LSTM captures prosodic artefacts that CNN global average pooling discards.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Midterm Evaluation — Phase 1 + Phase 2</a:t>
            </a:r>
          </a:p>
          <a:p/>
        </p:txBody>
      </p:sp>
      <p:pic>
        <p:nvPicPr>
          <p:cNvPr id="9" name="Picture 8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3108960"/>
            <a:ext cx="9235440" cy="393082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6E4F0"/>
                </a:solidFill>
              </a:defRPr>
            </a:pPr>
            <a:r>
              <a:t>STANDARD TEST SET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Phase 2: Confusion Matrices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20207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333333"/>
                </a:solidFill>
              </a:defRPr>
            </a:pPr>
            <a:r>
              <a:t>CNN and CNN-LSTM produce fewer than 3 false positives and under 50 false negatives per 2,734 test clips.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6E4F0"/>
                </a:solidFill>
              </a:defRPr>
            </a:pPr>
            <a:r>
              <a:t>NOISE (SNR) &amp; G.711 CODEC COMPRESSION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Phase 2: Robustness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gradation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32720" cy="36690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80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333333"/>
                </a:solidFill>
              </a:defRPr>
            </a:pPr>
            <a:r>
              <a:t>SVM degrades fastest under noise (EER ≈0.45 at 5 dB SNR)  ·  Gradient Boosting is most noise-robust (flattens at ≈0.33 below 15 dB)  ·  G.711 alone degrades all models only to EER 0.05–0.08 → noise is the bigger deployment risk, not codec compression.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6E4F0"/>
                </a:solidFill>
              </a:defRPr>
            </a:pPr>
            <a:r>
              <a:t>FULL COMPARISON ACROSS EVALUATION CONDITIONS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Consolidated Results — All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104241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828800"/>
                <a:gridCol w="1600200"/>
                <a:gridCol w="1600200"/>
                <a:gridCol w="1600200"/>
                <a:gridCol w="1600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Eval. Set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EER ↓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F1 ↑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AUC ↑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Acc. ↑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SVM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Test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0.0083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0.9943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0.9992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0.9912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SVM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Gen. test†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0.0067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0.9987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0.9953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Random Forest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Test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0.0305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0.9834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0.9956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0.9744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Random Forest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Gen. test†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0.0293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0.9854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0.9964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0.9781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Gradient Boosting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Test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0.0346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0.9820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0.9949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0.9722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Gradient Boosting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Gen. test†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0.0311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0.9868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0.9956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0.9801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CNN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Test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0.0081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0.9881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0.9993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0.9817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CNN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Gen. test†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0.0036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0.9942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0.9991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333333"/>
                          </a:solidFill>
                        </a:defRPr>
                      </a:pPr>
                      <a:r>
                        <a:t>0.9914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CNN-LSTM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Test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0.0035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0.9965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0.9996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0.9945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CNN-LSTM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Gen. test†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0.0004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0.9978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0.9967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65836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333333"/>
                </a:solidFill>
              </a:defRPr>
            </a:pPr>
            <a:r>
              <a:t>CNN-LSTM is best overall (EER 0.0035 test, 0.0004 on unseen Edge-TTS). Every model generalises as well as or better than on the standard test set. † Gen. test = held-out Edge-TTS.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Midterm Evaluation — Phase 1 + Phase 2</a:t>
            </a:r>
          </a:p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6E4F0"/>
                </a:solidFill>
              </a:defRPr>
            </a:pPr>
            <a:r>
              <a:t>WHAT PHASE 2 TAUGHT US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Key Insights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698480" cy="1463040"/>
          </a:xfrm>
          <a:prstGeom prst="roundRect">
            <a:avLst/>
          </a:prstGeom>
          <a:solidFill>
            <a:srgbClr val="EBF3FB"/>
          </a:solidFill>
          <a:ln w="9525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700" b="1">
                <a:solidFill>
                  <a:srgbClr val="1F4E79"/>
                </a:solidFill>
              </a:defRPr>
            </a:pPr>
            <a:r>
              <a:t>Deep Learning vs. Classical</a:t>
            </a:r>
          </a:p>
          <a:p>
            <a:pPr>
              <a:lnSpc>
                <a:spcPct val="115000"/>
              </a:lnSpc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CNN-LSTM wins overall, but SVM (EER 0.0083) is surprisingly competitive — even beating the plain CNN. The value of deep learning here comes specifically from temporal (LSTM) modelling, not convolution alone.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63240"/>
            <a:ext cx="10698480" cy="1463040"/>
          </a:xfrm>
          <a:prstGeom prst="roundRect">
            <a:avLst/>
          </a:prstGeom>
          <a:solidFill>
            <a:srgbClr val="EBF3FB"/>
          </a:solidFill>
          <a:ln w="9525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700" b="1">
                <a:solidFill>
                  <a:srgbClr val="1F4E79"/>
                </a:solidFill>
              </a:defRPr>
            </a:pPr>
            <a:r>
              <a:t>Generalisation is stronger than expected</a:t>
            </a:r>
          </a:p>
          <a:p>
            <a:pPr>
              <a:lnSpc>
                <a:spcPct val="115000"/>
              </a:lnSpc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Every model does as well or better on the fully unseen Edge-TTS system as on the standard test set — spectral/temporal artefacts appear to be common across neural TTS architectures, not system-specific fingerprints.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EBF3FB"/>
          </a:solidFill>
          <a:ln w="9525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700" b="1">
                <a:solidFill>
                  <a:srgbClr val="1F4E79"/>
                </a:solidFill>
              </a:defRPr>
            </a:pPr>
            <a:r>
              <a:t>Noise &gt; Codec Compression as a risk</a:t>
            </a:r>
          </a:p>
          <a:p>
            <a:pPr>
              <a:lnSpc>
                <a:spcPct val="115000"/>
              </a:lnSpc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G.711 alone only pushes EER to 0.05–0.08. Additive noise pushes classical model EER above 0.3 at low SNR — noise-aware training is the priority for Phase 3 hardening, ahead of further codec-specific 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Midterm Evaluation — Phase 1 + Phase 2</a:t>
            </a:r>
          </a:p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6E4F0"/>
                </a:solidFill>
              </a:defRPr>
            </a:pPr>
            <a:r>
              <a:t>AUGUST – NOVEMBER 2026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Phase 3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69848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011680"/>
                <a:gridCol w="393192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Task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Timeline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Key Deliverable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Interpretability: SHAP for classical models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Aug 2026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SHAP summary plots, cross-checked vs. RF importances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Interpretability: gradient saliency (CNN/CNN-LSTM)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Aug–Sep 2026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Time-frequency saliency maps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Final evaluation &amp; statistical testing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Sep–Oct 2026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Significance testing between models</a:t>
                      </a:r>
                    </a:p>
                  </a:txBody>
                  <a:tcPr anchor="ctr">
                    <a:solidFill>
                      <a:srgbClr val="EBF3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Thesis writing &amp; submission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Oct–Nov 2026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Final report, institute-prescribed format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Midterm Evaluation — Phase 1 + Phase 2</a:t>
            </a:r>
          </a:p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pPr>
              <a:defRPr sz="2200">
                <a:solidFill>
                  <a:srgbClr val="D6E4F0"/>
                </a:solidFill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