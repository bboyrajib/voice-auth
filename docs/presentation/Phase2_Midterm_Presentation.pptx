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8112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6E4F0"/>
                </a:solidFill>
              </a:defRPr>
            </a:pPr>
            <a:r>
              <a:rPr dirty="0" err="1"/>
              <a:t>M.Tech</a:t>
            </a:r>
            <a:r>
              <a:rPr dirty="0"/>
              <a:t>. (Online) </a:t>
            </a:r>
            <a:r>
              <a:rPr lang="en-US" dirty="0"/>
              <a:t>-</a:t>
            </a:r>
            <a:r>
              <a:rPr dirty="0"/>
              <a:t>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Detecting AI-Generated and Cloned Speech</a:t>
            </a:r>
          </a:p>
          <a:p>
            <a:pPr>
              <a:defRPr sz="2400">
                <a:solidFill>
                  <a:srgbClr val="D6E4F0"/>
                </a:solidFill>
              </a:defRPr>
            </a:pPr>
            <a:r>
              <a:t>to Strengthen Voice-Based Authentication in Banking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576003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Midterm Evaluation </a:t>
            </a:r>
            <a:r>
              <a:rPr lang="en-US" dirty="0"/>
              <a:t>-</a:t>
            </a:r>
            <a:r>
              <a:rPr dirty="0"/>
              <a:t> Phase 1 + Phase 2 Progress</a:t>
            </a:r>
          </a:p>
          <a:p>
            <a:pPr>
              <a:spcAft>
                <a:spcPts val="600"/>
              </a:spcAft>
              <a:defRPr sz="1500" b="0">
                <a:solidFill>
                  <a:srgbClr val="D6E4F0"/>
                </a:solidFill>
              </a:defRPr>
            </a:pPr>
            <a:r>
              <a:rPr dirty="0"/>
              <a:t>Rajib Roy  |  Student No. 24459  |  IISc</a:t>
            </a:r>
            <a:r>
              <a:rPr lang="en-US" dirty="0"/>
              <a:t>, Bengaluru</a:t>
            </a:r>
            <a:r>
              <a:rPr dirty="0"/>
              <a:t> </a:t>
            </a:r>
            <a:r>
              <a:rPr lang="en-US" dirty="0"/>
              <a:t>| </a:t>
            </a:r>
            <a:r>
              <a:rPr dirty="0" err="1"/>
              <a:t>M.Tech</a:t>
            </a:r>
            <a:r>
              <a:rPr dirty="0"/>
              <a:t> (AI)</a:t>
            </a:r>
          </a:p>
          <a:p>
            <a:pPr>
              <a:spcAft>
                <a:spcPts val="600"/>
              </a:spcAft>
              <a:defRPr sz="1300" b="0">
                <a:solidFill>
                  <a:srgbClr val="D6E4F0"/>
                </a:solidFill>
              </a:defRPr>
            </a:pPr>
            <a:r>
              <a:rPr dirty="0"/>
              <a:t>Internal Guide: Dr. Anil </a:t>
            </a:r>
            <a:r>
              <a:rPr dirty="0" err="1"/>
              <a:t>Rahate</a:t>
            </a:r>
            <a:r>
              <a:rPr dirty="0"/>
              <a:t>, Wipro Ltd   |   IISc Mentor: Prof. C. S. </a:t>
            </a:r>
            <a:r>
              <a:rPr dirty="0" err="1"/>
              <a:t>Seelamantula</a:t>
            </a:r>
            <a:endParaRPr dirty="0"/>
          </a:p>
          <a:p>
            <a:pPr>
              <a:spcAft>
                <a:spcPts val="600"/>
              </a:spcAft>
              <a:defRPr sz="1300" b="0">
                <a:solidFill>
                  <a:srgbClr val="D6E4F0"/>
                </a:solidFill>
              </a:defRPr>
            </a:pPr>
            <a:r>
              <a:rPr dirty="0"/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OVERVIEW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Problem &amp; motivation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Research questions and novelty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Project timeline: Phase 1 → Phase 2 → Phase 3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1 recap: dataset &amp; feature pipeline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2: classical ML baselines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2: feature importance analysis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2: deep learning models (CNN, CNN-LSTM)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2: robustness &amp; cross-system generalisation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Consolidated results &amp; key insights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▸ Phase 3 plan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MOTIVATION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0" cy="292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Voice authentication is routine in banking IVR / call-</a:t>
            </a:r>
            <a:r>
              <a:rPr dirty="0" err="1"/>
              <a:t>centre</a:t>
            </a:r>
            <a:r>
              <a:rPr dirty="0"/>
              <a:t> workflows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Neural TTS &amp; voice cloning can now replicate a voice from a few seconds of audio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Existing voice biometrics were designed against replay attacks </a:t>
            </a:r>
            <a:r>
              <a:rPr lang="en-US" dirty="0"/>
              <a:t>-</a:t>
            </a:r>
            <a:r>
              <a:rPr dirty="0"/>
              <a:t> not modern neural TTS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A successful spoof enables fraudulent transfers, identity fraud, social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420624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/>
              <a:t>Goal</a:t>
            </a:r>
          </a:p>
          <a:p>
            <a:pPr algn="just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Build and validate an automated pipeline that distinguishes genuine human speech from AI-generated / cloned speech, specifically under banking telephony conditions: short utterances, codec compression, background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SCOPE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105156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64792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Can supervised ML reliably distinguish real vs. AI-synthesised speech, on unseen speakers and unseen TTS systems?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24328"/>
            <a:ext cx="10698480" cy="105156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807208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5940" y="2871216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Which acoustic/signal-level properties (spectral shape, phase coherence, prosody) most reliably betray synthetic speech?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31336"/>
            <a:ext cx="10698480" cy="105156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014216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091940"/>
            <a:ext cx="9418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How do detection models hold up under banking telephony conditions </a:t>
            </a:r>
            <a:r>
              <a:rPr lang="en-US" dirty="0"/>
              <a:t>-</a:t>
            </a:r>
            <a:r>
              <a:rPr dirty="0"/>
              <a:t> short utterances, G.711 codec, ambient noise?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38344"/>
            <a:ext cx="10698480" cy="105156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5221224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422392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Do deep learning architectures offer a meaningful advantage over classical ML under identical data conditions?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Midterm Evaluation </a:t>
            </a:r>
            <a:r>
              <a:rPr lang="en-IN" dirty="0"/>
              <a:t>—</a:t>
            </a:r>
            <a:r>
              <a:rPr dirty="0"/>
              <a:t> Phase 1 + Phase 2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WORK PLAN (APPROVED PROPOSAL)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rPr dirty="0"/>
              <a:t>Phase 1</a:t>
            </a:r>
          </a:p>
          <a:p>
            <a:pPr algn="ctr">
              <a:spcAft>
                <a:spcPts val="1400"/>
              </a:spcAft>
              <a:defRPr sz="1400">
                <a:solidFill>
                  <a:srgbClr val="2E74B5"/>
                </a:solidFill>
              </a:defRPr>
            </a:pPr>
            <a:r>
              <a:rPr dirty="0"/>
              <a:t>Jan – Apr 2026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Literature review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Dataset (17,947 utterances)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IN" dirty="0"/>
              <a:t>Feature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4500" y="5257800"/>
            <a:ext cx="1554480" cy="3657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352044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rPr dirty="0"/>
              <a:t>Phase 2</a:t>
            </a:r>
          </a:p>
          <a:p>
            <a:pPr algn="ctr">
              <a:spcAft>
                <a:spcPts val="1400"/>
              </a:spcAft>
              <a:defRPr sz="1400">
                <a:solidFill>
                  <a:srgbClr val="2E74B5"/>
                </a:solidFill>
              </a:defRPr>
            </a:pPr>
            <a:r>
              <a:rPr dirty="0"/>
              <a:t>May – Jul 2026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ML baselines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Feature importance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CNN / CNN-LSTM · Robustness experiments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8607" y="5257800"/>
            <a:ext cx="1554480" cy="3657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52044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rPr dirty="0"/>
              <a:t>Phase 3</a:t>
            </a:r>
          </a:p>
          <a:p>
            <a:pPr algn="ctr">
              <a:spcAft>
                <a:spcPts val="1400"/>
              </a:spcAft>
              <a:defRPr sz="1400">
                <a:solidFill>
                  <a:srgbClr val="2E74B5"/>
                </a:solidFill>
              </a:defRPr>
            </a:pPr>
            <a:r>
              <a:rPr dirty="0"/>
              <a:t>Aug – </a:t>
            </a:r>
            <a:r>
              <a:rPr lang="en-US" dirty="0"/>
              <a:t>Dec</a:t>
            </a:r>
            <a:r>
              <a:rPr dirty="0"/>
              <a:t> 2026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SHAP + saliency interpretability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Final evaluation &amp; stats </a:t>
            </a: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Thesis writing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2580" y="5257800"/>
            <a:ext cx="1554480" cy="36576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We are here: end of Phase 2, entering Phase 3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FOUNDATION FOR PHASE 2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1 Recap: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8480" y="1852209"/>
            <a:ext cx="6099048" cy="318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17,947 utterances from 10 sources</a:t>
            </a:r>
          </a:p>
          <a:p>
            <a:pPr marL="742950" lvl="1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Genuine: </a:t>
            </a:r>
            <a:r>
              <a:rPr dirty="0" err="1"/>
              <a:t>LibriSpeech</a:t>
            </a:r>
            <a:r>
              <a:rPr dirty="0"/>
              <a:t> test-clean, 2,229 clips, 40 speakers</a:t>
            </a:r>
          </a:p>
          <a:p>
            <a:pPr marL="742950" lvl="1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Synthetic: </a:t>
            </a:r>
            <a:r>
              <a:rPr dirty="0" err="1"/>
              <a:t>ASVspoof</a:t>
            </a:r>
            <a:r>
              <a:rPr dirty="0"/>
              <a:t> 2019 LA (6 TTS/VC systems), VITS, Tacotron2, Edge-TTS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8 kHz + G.711 codec simulation (banking telephony)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3</a:t>
            </a:r>
            <a:r>
              <a:rPr lang="en-US" dirty="0"/>
              <a:t>-</a:t>
            </a:r>
            <a:r>
              <a:rPr dirty="0"/>
              <a:t>8 second utterances (transaction-confirmation length)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Strict speaker- and system-independent splits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Microsoft Edge-TTS held out entirely </a:t>
            </a:r>
            <a:r>
              <a:rPr lang="en-US" dirty="0"/>
              <a:t>-</a:t>
            </a:r>
            <a:r>
              <a:rPr dirty="0"/>
              <a:t> unseen-system </a:t>
            </a:r>
            <a:r>
              <a:rPr dirty="0" err="1"/>
              <a:t>generalisation</a:t>
            </a:r>
            <a:r>
              <a:rPr dirty="0"/>
              <a:t> test</a:t>
            </a:r>
          </a:p>
        </p:txBody>
      </p:sp>
      <p:pic>
        <p:nvPicPr>
          <p:cNvPr id="7" name="Picture 6" descr="Fig2_Dataset_Composition.png"/>
          <p:cNvPicPr>
            <a:picLocks noChangeAspect="1"/>
          </p:cNvPicPr>
          <p:nvPr/>
        </p:nvPicPr>
        <p:blipFill>
          <a:blip r:embed="rId2"/>
          <a:srcRect l="73306"/>
          <a:stretch>
            <a:fillRect/>
          </a:stretch>
        </p:blipFill>
        <p:spPr>
          <a:xfrm>
            <a:off x="8742695" y="3675237"/>
            <a:ext cx="2065513" cy="2862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  <p:pic>
        <p:nvPicPr>
          <p:cNvPr id="10" name="Picture 9" descr="Fig2_Dataset_Composition.png">
            <a:extLst>
              <a:ext uri="{FF2B5EF4-FFF2-40B4-BE49-F238E27FC236}">
                <a16:creationId xmlns:a16="http://schemas.microsoft.com/office/drawing/2014/main" id="{14305C89-77DA-4C3B-4350-3AAFE0AA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622"/>
          <a:stretch>
            <a:fillRect/>
          </a:stretch>
        </p:blipFill>
        <p:spPr>
          <a:xfrm>
            <a:off x="7636615" y="1162635"/>
            <a:ext cx="4097880" cy="2284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FOUNDATION FOR PHASE 2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1 Recap: Feature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103120"/>
            <a:ext cx="5760720" cy="338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257-dim handcrafted feature vector (</a:t>
            </a:r>
            <a:r>
              <a:rPr dirty="0" err="1"/>
              <a:t>Librosa</a:t>
            </a:r>
            <a:r>
              <a:rPr dirty="0"/>
              <a:t>, 25 </a:t>
            </a:r>
            <a:r>
              <a:rPr dirty="0" err="1"/>
              <a:t>ms</a:t>
            </a:r>
            <a:r>
              <a:rPr dirty="0"/>
              <a:t> window / 10 </a:t>
            </a:r>
            <a:r>
              <a:rPr dirty="0" err="1"/>
              <a:t>ms</a:t>
            </a:r>
            <a:r>
              <a:rPr dirty="0"/>
              <a:t> hop)</a:t>
            </a:r>
          </a:p>
          <a:p>
            <a:pPr marL="742950" lvl="1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MFCC (40 </a:t>
            </a:r>
            <a:r>
              <a:rPr dirty="0" err="1"/>
              <a:t>coeff</a:t>
            </a:r>
            <a:r>
              <a:rPr dirty="0"/>
              <a:t>. × static/Δ/ΔΔ) = 120 dims</a:t>
            </a:r>
          </a:p>
          <a:p>
            <a:pPr marL="742950" lvl="1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Spectral centroid, bandwidth, </a:t>
            </a:r>
            <a:r>
              <a:rPr dirty="0" err="1"/>
              <a:t>rolloff</a:t>
            </a:r>
            <a:r>
              <a:rPr dirty="0"/>
              <a:t>, ZCR, HNR, pitch, phase difference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128-bin log-Mel spectrograms for deep learning models (128×128)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All hyperparameters </a:t>
            </a:r>
            <a:r>
              <a:rPr dirty="0" err="1"/>
              <a:t>centralised</a:t>
            </a:r>
            <a:r>
              <a:rPr dirty="0"/>
              <a:t> in </a:t>
            </a:r>
            <a:r>
              <a:rPr dirty="0" err="1"/>
              <a:t>config.yaml</a:t>
            </a: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diagnose.py validates class balance, </a:t>
            </a:r>
            <a:r>
              <a:rPr dirty="0" err="1"/>
              <a:t>NaNs</a:t>
            </a:r>
            <a:r>
              <a:rPr dirty="0"/>
              <a:t>, inter-class separation</a:t>
            </a:r>
          </a:p>
        </p:txBody>
      </p:sp>
      <p:pic>
        <p:nvPicPr>
          <p:cNvPr id="7" name="Picture 6" descr="Fig3_Feature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1387348"/>
            <a:ext cx="4937760" cy="5084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SVM · RANDOM FOREST · GRADIENT BOOSTING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2: Classical ML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Eval. Set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EER ↓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AUC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Acc.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SVM (RBF)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0.0083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0.9943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0.9912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SVM (RBF)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0.0305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0.9834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0.9744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0.0346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0.9820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0.9949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0.9722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rPr dirty="0"/>
              <a:t>SVM (RBF kernel, C=10) is the strongest classical baseline. All three models trained with SMOTE + class-weighting inside 5-fold CV. </a:t>
            </a:r>
            <a:endParaRPr lang="en-US" dirty="0"/>
          </a:p>
          <a:p>
            <a:pPr>
              <a:defRPr sz="1400" i="1">
                <a:solidFill>
                  <a:srgbClr val="333333"/>
                </a:solidFill>
              </a:defRPr>
            </a:pPr>
            <a:r>
              <a:rPr dirty="0"/>
              <a:t>† Gen. test = held-out Edge-TTS, unseen in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INTERPRETABILITY (RANDOM FOREST)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2: Feature Importance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9120" y="1785620"/>
            <a:ext cx="5120640" cy="33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Random Forest importance ranking over the 257-dim feature vector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Delta-MFCC coefficients </a:t>
            </a:r>
            <a:r>
              <a:rPr dirty="0" err="1"/>
              <a:t>domi</a:t>
            </a:r>
            <a:r>
              <a:rPr lang="en-IN" dirty="0" err="1"/>
              <a:t>nate</a:t>
            </a:r>
            <a:r>
              <a:rPr lang="en-IN" dirty="0"/>
              <a:t> (delta_</a:t>
            </a:r>
            <a:r>
              <a:rPr dirty="0"/>
              <a:t>mfcc_6_mean, delta_mfcc_5_mean)</a:t>
            </a:r>
          </a:p>
          <a:p>
            <a:pPr marL="742950" lvl="1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TTS vocoders impose smoother, more regular spectral dynamics than natural articulation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</a:t>
            </a:r>
            <a:r>
              <a:rPr dirty="0" err="1"/>
              <a:t>phase_diff_mean</a:t>
            </a:r>
            <a:r>
              <a:rPr dirty="0"/>
              <a:t> ranks 16th — validates inclusion of phase-based features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▸ Spectral centroid &amp; </a:t>
            </a:r>
            <a:r>
              <a:rPr dirty="0" err="1"/>
              <a:t>rolloff</a:t>
            </a:r>
            <a:r>
              <a:rPr dirty="0"/>
              <a:t> appear as secondary discriminators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CNN &amp; CNN-LSTM ON LOG-MEL SPECTROGRAMS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2: Deep Learning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4805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28600"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/>
              <a:t>CNN</a:t>
            </a:r>
            <a:endParaRPr lang="en-IN" dirty="0"/>
          </a:p>
          <a:p>
            <a:pPr algn="ctr">
              <a:defRPr sz="2000" b="1">
                <a:solidFill>
                  <a:srgbClr val="1F4E79"/>
                </a:solidFill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4 conv blocks: 32→64→128→256 channels, 3×3 kernel, </a:t>
            </a:r>
            <a:r>
              <a:rPr dirty="0" err="1"/>
              <a:t>BatchNorm</a:t>
            </a:r>
            <a:r>
              <a:rPr dirty="0"/>
              <a:t>, </a:t>
            </a:r>
            <a:r>
              <a:rPr dirty="0" err="1"/>
              <a:t>ReLU</a:t>
            </a:r>
            <a:r>
              <a:rPr dirty="0"/>
              <a:t>, max-pool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Global average pooling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Classifier: 256→128→2, dropout p=0.5</a:t>
            </a:r>
            <a:endParaRPr lang="en-US" dirty="0"/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endParaRPr dirty="0"/>
          </a:p>
          <a:p>
            <a:pPr algn="ctr">
              <a:spcBef>
                <a:spcPts val="1000"/>
              </a:spcBef>
              <a:defRPr sz="1500" b="1">
                <a:solidFill>
                  <a:srgbClr val="2E74B5"/>
                </a:solidFill>
              </a:defRPr>
            </a:pPr>
            <a:r>
              <a:rPr dirty="0"/>
              <a:t>421,954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44805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28600"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/>
              <a:t>CNN-LSTM</a:t>
            </a:r>
            <a:endParaRPr lang="en-US" dirty="0"/>
          </a:p>
          <a:p>
            <a:pPr algn="ctr">
              <a:defRPr sz="2000" b="1">
                <a:solidFill>
                  <a:srgbClr val="1F4E79"/>
                </a:solidFill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Same conv front-end, frequency-only pooling (preserves time axis)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2-layer bidirectional LSTM, hidden size 128/direction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50">
                <a:solidFill>
                  <a:srgbClr val="333333"/>
                </a:solidFill>
              </a:defRPr>
            </a:pPr>
            <a:r>
              <a:rPr dirty="0"/>
              <a:t>▸ Same classifier head — explicitly models temporal prosodic dynamics</a:t>
            </a:r>
            <a:endParaRPr lang="en-US" dirty="0"/>
          </a:p>
          <a:p>
            <a:pPr algn="ctr">
              <a:spcBef>
                <a:spcPts val="1000"/>
              </a:spcBef>
              <a:defRPr sz="1500" b="1">
                <a:solidFill>
                  <a:srgbClr val="2E74B5"/>
                </a:solidFill>
              </a:defRPr>
            </a:pPr>
            <a:r>
              <a:rPr dirty="0"/>
              <a:t>1,834,498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99481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dirty="0"/>
              <a:t>Training: Adam (</a:t>
            </a:r>
            <a:r>
              <a:rPr dirty="0" err="1"/>
              <a:t>lr</a:t>
            </a:r>
            <a:r>
              <a:rPr dirty="0"/>
              <a:t>=1e-3), cosine annealing, 50 epochs, weighted cross-entropy, </a:t>
            </a:r>
            <a:r>
              <a:rPr dirty="0" err="1"/>
              <a:t>WeightedRandomSampler</a:t>
            </a:r>
            <a:r>
              <a:rPr dirty="0"/>
              <a:t>, mixed precision on RTX 3060 (6.4 GB), </a:t>
            </a:r>
            <a:endParaRPr lang="en-US" dirty="0"/>
          </a:p>
          <a:p>
            <a:pPr>
              <a:defRPr sz="1300" i="1">
                <a:solidFill>
                  <a:srgbClr val="333333"/>
                </a:solidFill>
              </a:defRPr>
            </a:pPr>
            <a:r>
              <a:rPr dirty="0"/>
              <a:t>early stopping (patience 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rPr dirty="0"/>
              <a:t>CNN VS. CNN-LSTM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Phase 2: Deep Learning </a:t>
            </a:r>
            <a:r>
              <a:rPr lang="en-US" dirty="0"/>
              <a:t>-</a:t>
            </a:r>
            <a:r>
              <a:rPr dirty="0"/>
              <a:t>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50007"/>
              </p:ext>
            </p:extLst>
          </p:nvPr>
        </p:nvGraphicFramePr>
        <p:xfrm>
          <a:off x="731520" y="1285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Epoch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 EER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421,954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0.0154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~55 min (RTX 3060)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CNN-LSTM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1,834,498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0.0092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~60 min (RTX 3060)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268427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rPr dirty="0"/>
              <a:t>CNN-LSTM converges faster to a lower validation EER — explicit temporal modelling via the LSTM captures prosodic artefacts that CNN global average pooling discards.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  <p:pic>
        <p:nvPicPr>
          <p:cNvPr id="9" name="Picture 8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3095752"/>
            <a:ext cx="7543800" cy="32108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STANDARD TEST SET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2: Confusion Matrices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74" y="1908048"/>
            <a:ext cx="11508158" cy="3491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CNN and CNN-LSTM produce fewer than 3 false positives and under 50 false negatives per 2,734 test clips.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NOISE (SNR) &amp; G.711 CODEC COMPRESSION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2: Robustness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gra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6690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0120"/>
            <a:ext cx="1069848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3333"/>
                </a:solidFill>
              </a:defRPr>
            </a:pPr>
            <a:r>
              <a:rPr dirty="0"/>
              <a:t>SVM degrades fastest under noise (EER ≈0.45 at 5 dB SNR) </a:t>
            </a:r>
            <a:endParaRPr lang="en-US" dirty="0"/>
          </a:p>
          <a:p>
            <a:pPr>
              <a:defRPr sz="1350">
                <a:solidFill>
                  <a:srgbClr val="333333"/>
                </a:solidFill>
              </a:defRPr>
            </a:pPr>
            <a:r>
              <a:rPr dirty="0"/>
              <a:t>Gradient Boosting is most noise-robust (flattens at ≈0.33 below 15 dB) </a:t>
            </a:r>
            <a:endParaRPr lang="en-US" dirty="0"/>
          </a:p>
          <a:p>
            <a:pPr>
              <a:defRPr sz="1350">
                <a:solidFill>
                  <a:srgbClr val="333333"/>
                </a:solidFill>
              </a:defRPr>
            </a:pPr>
            <a:r>
              <a:rPr dirty="0"/>
              <a:t>G.711 alone degrades all models only to EER 0.05</a:t>
            </a:r>
            <a:r>
              <a:rPr lang="en-US" dirty="0"/>
              <a:t>-</a:t>
            </a:r>
            <a:r>
              <a:rPr dirty="0"/>
              <a:t>0.08 → noise is the bigger deployment risk, not codec compression.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rPr dirty="0"/>
              <a:t>FULL COMPARISON ACROSS EVALUATION CONDITIONS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Consolidated Results </a:t>
            </a:r>
            <a:r>
              <a:rPr lang="en-US" dirty="0"/>
              <a:t>-</a:t>
            </a:r>
            <a:r>
              <a:rPr dirty="0"/>
              <a:t> All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709630"/>
              </p:ext>
            </p:extLst>
          </p:nvPr>
        </p:nvGraphicFramePr>
        <p:xfrm>
          <a:off x="655167" y="1266053"/>
          <a:ext cx="10424160" cy="4211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83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Eval. Set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EER ↓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AUC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Acc. ↑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0.0083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0.9943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0.9912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0.0305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0.9834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0.9744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0.0346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0.9820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0.9949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0.9722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0.0081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0.9881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0.9993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0.9817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0.0036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333333"/>
                          </a:solidFill>
                        </a:defRPr>
                      </a:pPr>
                      <a:r>
                        <a:t>0.9914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CNN-LSTM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0.0035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0.9965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0.9996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0.9945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837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CNN-LSTM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Gen. test†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0.0004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0.9978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0.9967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8007" y="5723695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rPr dirty="0"/>
              <a:t>CNN-LSTM is best overall (EER 0.0035 test, 0.0004 on unseen Edge-TTS). Every model </a:t>
            </a:r>
            <a:r>
              <a:rPr dirty="0" err="1"/>
              <a:t>generalises</a:t>
            </a:r>
            <a:r>
              <a:rPr dirty="0"/>
              <a:t> as well as or better than on the standard test set. † Gen. test = held-out Edge-TTS.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WHAT PHASE 2 TAUGHT US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rPr dirty="0"/>
              <a:t>Deep Learning vs. Classical</a:t>
            </a:r>
          </a:p>
          <a:p>
            <a:pPr algn="just">
              <a:lnSpc>
                <a:spcPct val="115000"/>
              </a:lnSpc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CNN-LSTM wins overall, but SVM (EER 0.0083) is surprisingly competitive </a:t>
            </a:r>
            <a:r>
              <a:rPr lang="en-US" dirty="0"/>
              <a:t>-</a:t>
            </a:r>
            <a:r>
              <a:rPr dirty="0"/>
              <a:t> even beating the plain CNN. The value of deep learning here comes specifically from temporal (LSTM) modelling, not convolution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rPr dirty="0" err="1"/>
              <a:t>Generalisation</a:t>
            </a:r>
            <a:r>
              <a:rPr dirty="0"/>
              <a:t> is stronger than expected</a:t>
            </a:r>
          </a:p>
          <a:p>
            <a:pPr algn="just">
              <a:lnSpc>
                <a:spcPct val="115000"/>
              </a:lnSpc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Every model does as well or better on the fully unseen Edge-TTS system as on the standard test set </a:t>
            </a:r>
            <a:r>
              <a:rPr lang="en-US" dirty="0"/>
              <a:t>-</a:t>
            </a:r>
            <a:r>
              <a:rPr dirty="0"/>
              <a:t> spectral/temporal artefacts appear to be common across neural TTS architectures, not system-specific fingerprints.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EBF3FB"/>
          </a:solidFill>
          <a:ln w="952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rPr dirty="0"/>
              <a:t>Noise &gt; Codec Compression as a risk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G.711 alone only pushes EER to 0.05</a:t>
            </a:r>
            <a:r>
              <a:rPr lang="en-US" dirty="0"/>
              <a:t>-</a:t>
            </a:r>
            <a:r>
              <a:rPr dirty="0"/>
              <a:t>0.08. Additive noise pushes classical model EER above 0.3 at low SNR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6E4F0"/>
                </a:solidFill>
              </a:defRPr>
            </a:pPr>
            <a:r>
              <a:t>AUGUST – NOVEMBER 2026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Phase 3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803513"/>
              </p:ext>
            </p:extLst>
          </p:nvPr>
        </p:nvGraphicFramePr>
        <p:xfrm>
          <a:off x="731520" y="146304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Interpretability: SHAP for classical models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Aug 2026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SHAP summary plots, cross-checked vs. RF importances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Interpretability: gradient saliency (CNN/CNN-LSTM)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Aug</a:t>
                      </a:r>
                      <a:r>
                        <a:rPr lang="en-US" dirty="0"/>
                        <a:t> - </a:t>
                      </a:r>
                      <a:r>
                        <a:rPr dirty="0"/>
                        <a:t>Sep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Time-frequency saliency 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Final evaluation &amp; statistical testing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Sep</a:t>
                      </a:r>
                      <a:r>
                        <a:rPr lang="en-US" dirty="0"/>
                        <a:t> - </a:t>
                      </a:r>
                      <a:r>
                        <a:rPr dirty="0"/>
                        <a:t>Oct 2026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Significance testing between models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Thesis writing &amp; submission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Oct</a:t>
                      </a:r>
                      <a:r>
                        <a:rPr lang="en-US" dirty="0"/>
                        <a:t> - </a:t>
                      </a:r>
                      <a:r>
                        <a:rPr dirty="0"/>
                        <a:t>Nov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Final report, institute-prescribed 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Midterm Evaluation — Phase 1 + Phase 2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200">
                <a:solidFill>
                  <a:srgbClr val="D6E4F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1473</Words>
  <Application>Microsoft Office PowerPoint</Application>
  <PresentationFormat>Widescreen</PresentationFormat>
  <Paragraphs>278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Rajib Roy</cp:lastModifiedBy>
  <cp:revision>12</cp:revision>
  <dcterms:created xsi:type="dcterms:W3CDTF">2013-01-27T09:14:16Z</dcterms:created>
  <dcterms:modified xsi:type="dcterms:W3CDTF">2026-07-01T17:20:27Z</dcterms:modified>
  <cp:category/>
</cp:coreProperties>
</file>